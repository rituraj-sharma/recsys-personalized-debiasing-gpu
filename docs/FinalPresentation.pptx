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GRU4Rec CE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Niche</c:v>
                </c:pt>
                <c:pt idx="1">
                  <c:v>Diverse</c:v>
                </c:pt>
                <c:pt idx="2">
                  <c:v>Blockbuster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7.9199999999999995E-4</c:v>
                </c:pt>
                <c:pt idx="1">
                  <c:v>4.3300000000000001E-4</c:v>
                </c:pt>
                <c:pt idx="2">
                  <c:v>6.7100000000000005E-4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05-4AD4-B178-3EF36C4792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GRU4Rec + IPS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Niche</c:v>
                </c:pt>
                <c:pt idx="1">
                  <c:v>Diverse</c:v>
                </c:pt>
                <c:pt idx="2">
                  <c:v>Blockbuster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8.4199999999999998E-4</c:v>
                </c:pt>
                <c:pt idx="1">
                  <c:v>4.4900000000000002E-4</c:v>
                </c:pt>
                <c:pt idx="2">
                  <c:v>6.8199999999999999E-4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05-4AD4-B178-3EF36C4792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Ours (Formula)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Niche</c:v>
                </c:pt>
                <c:pt idx="1">
                  <c:v>Diverse</c:v>
                </c:pt>
                <c:pt idx="2">
                  <c:v>Blockbuster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8.3199999999999995E-4</c:v>
                </c:pt>
                <c:pt idx="1">
                  <c:v>4.4099999999999999E-4</c:v>
                </c:pt>
                <c:pt idx="2">
                  <c:v>6.8499999999999995E-4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05-4AD4-B178-3EF36C47928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Ours (Learned)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Niche</c:v>
                </c:pt>
                <c:pt idx="1">
                  <c:v>Diverse</c:v>
                </c:pt>
                <c:pt idx="2">
                  <c:v>Blockbuster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8.2299999999999995E-4</c:v>
                </c:pt>
                <c:pt idx="1">
                  <c:v>4.3600000000000003E-4</c:v>
                </c:pt>
                <c:pt idx="2">
                  <c:v>6.8300000000000001E-4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005-4AD4-B178-3EF36C4792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E-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Formula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Recall@10</c:v>
                </c:pt>
                <c:pt idx="1">
                  <c:v>NDCG@10</c:v>
                </c:pt>
                <c:pt idx="2">
                  <c:v>Coverage</c:v>
                </c:pt>
                <c:pt idx="3">
                  <c:v>Long-Tail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0.1231</c:v>
                </c:pt>
                <c:pt idx="1">
                  <c:v>6.3799999999999996E-2</c:v>
                </c:pt>
                <c:pt idx="2">
                  <c:v>0.4713</c:v>
                </c:pt>
                <c:pt idx="3">
                  <c:v>9.2799999999999994E-2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77-41BB-8B2D-9E21DC83E9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Learned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Recall@10</c:v>
                </c:pt>
                <c:pt idx="1">
                  <c:v>NDCG@10</c:v>
                </c:pt>
                <c:pt idx="2">
                  <c:v>Coverage</c:v>
                </c:pt>
                <c:pt idx="3">
                  <c:v>Long-Tail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0.1273</c:v>
                </c:pt>
                <c:pt idx="1">
                  <c:v>6.4899999999999999E-2</c:v>
                </c:pt>
                <c:pt idx="2">
                  <c:v>0.46529999999999999</c:v>
                </c:pt>
                <c:pt idx="3">
                  <c:v>9.1800000000000007E-2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77-41BB-8B2D-9E21DC83E9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α-only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dLbl>
              <c:idx val="0"/>
              <c:layout>
                <c:manualLayout>
                  <c:x val="-2.0202020202020214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1AC-42F3-870B-39D400E2B0D5}"/>
                </c:ext>
              </c:extLst>
            </c:dLbl>
            <c:dLbl>
              <c:idx val="1"/>
              <c:layout>
                <c:manualLayout>
                  <c:x val="-7.5757575757576219E-3"/>
                  <c:y val="-8.4875562720133283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1AC-42F3-870B-39D400E2B0D5}"/>
                </c:ext>
              </c:extLst>
            </c:dLbl>
            <c:dLbl>
              <c:idx val="2"/>
              <c:layout>
                <c:manualLayout>
                  <c:x val="-1.2626262626262626E-2"/>
                  <c:y val="-4.629629629629629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1AC-42F3-870B-39D400E2B0D5}"/>
                </c:ext>
              </c:extLst>
            </c:dLbl>
            <c:dLbl>
              <c:idx val="3"/>
              <c:layout>
                <c:manualLayout>
                  <c:x val="-1.5151515151515244E-2"/>
                  <c:y val="4.629629629629629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1AC-42F3-870B-39D400E2B0D5}"/>
                </c:ext>
              </c:extLst>
            </c:dLbl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Recall@10</c:v>
                </c:pt>
                <c:pt idx="1">
                  <c:v>NDCG@10</c:v>
                </c:pt>
                <c:pt idx="2">
                  <c:v>Coverage</c:v>
                </c:pt>
                <c:pt idx="3">
                  <c:v>Long-Tail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0.12720000000000001</c:v>
                </c:pt>
                <c:pt idx="1">
                  <c:v>6.5799999999999997E-2</c:v>
                </c:pt>
                <c:pt idx="2">
                  <c:v>0.47</c:v>
                </c:pt>
                <c:pt idx="3">
                  <c:v>9.1899999999999996E-2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DA-4D40-8655-D39644AC4F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β-only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dLbl>
              <c:idx val="0"/>
              <c:layout>
                <c:manualLayout>
                  <c:x val="-5.0505050505050735E-3"/>
                  <c:y val="-4.629629629629629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1AC-42F3-870B-39D400E2B0D5}"/>
                </c:ext>
              </c:extLst>
            </c:dLbl>
            <c:dLbl>
              <c:idx val="1"/>
              <c:layout>
                <c:manualLayout>
                  <c:x val="5.050505050505050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1AC-42F3-870B-39D400E2B0D5}"/>
                </c:ext>
              </c:extLst>
            </c:dLbl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Recall@10</c:v>
                </c:pt>
                <c:pt idx="1">
                  <c:v>NDCG@10</c:v>
                </c:pt>
                <c:pt idx="2">
                  <c:v>Coverage</c:v>
                </c:pt>
                <c:pt idx="3">
                  <c:v>Long-Tail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0.1232</c:v>
                </c:pt>
                <c:pt idx="1">
                  <c:v>6.3500000000000001E-2</c:v>
                </c:pt>
                <c:pt idx="2">
                  <c:v>0.435</c:v>
                </c:pt>
                <c:pt idx="3">
                  <c:v>9.0800000000000006E-2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DA-4D40-8655-D39644AC4F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α+β (Full)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dLbl>
              <c:idx val="0"/>
              <c:layout>
                <c:manualLayout>
                  <c:x val="1.2626262626262579E-2"/>
                  <c:y val="-9.25925925925925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1AC-42F3-870B-39D400E2B0D5}"/>
                </c:ext>
              </c:extLst>
            </c:dLbl>
            <c:dLbl>
              <c:idx val="1"/>
              <c:layout>
                <c:manualLayout>
                  <c:x val="1.5151515151515152E-2"/>
                  <c:y val="-4.629629629629629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1AC-42F3-870B-39D400E2B0D5}"/>
                </c:ext>
              </c:extLst>
            </c:dLbl>
            <c:dLbl>
              <c:idx val="3"/>
              <c:layout>
                <c:manualLayout>
                  <c:x val="1.2626262626262626E-2"/>
                  <c:y val="-9.25925925925925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1AC-42F3-870B-39D400E2B0D5}"/>
                </c:ext>
              </c:extLst>
            </c:dLbl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Recall@10</c:v>
                </c:pt>
                <c:pt idx="1">
                  <c:v>NDCG@10</c:v>
                </c:pt>
                <c:pt idx="2">
                  <c:v>Coverage</c:v>
                </c:pt>
                <c:pt idx="3">
                  <c:v>Long-Tail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0.1231</c:v>
                </c:pt>
                <c:pt idx="1">
                  <c:v>6.3799999999999996E-2</c:v>
                </c:pt>
                <c:pt idx="2">
                  <c:v>0.4713</c:v>
                </c:pt>
                <c:pt idx="3">
                  <c:v>9.2799999999999994E-2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DA-4D40-8655-D39644AC4F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W=7</c:v>
                </c:pt>
                <c:pt idx="1">
                  <c:v>W=14</c:v>
                </c:pt>
                <c:pt idx="2">
                  <c:v>W=30</c:v>
                </c:pt>
                <c:pt idx="3">
                  <c:v>W=60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0.11700000000000001</c:v>
                </c:pt>
                <c:pt idx="1">
                  <c:v>0.127</c:v>
                </c:pt>
                <c:pt idx="2">
                  <c:v>0.1231</c:v>
                </c:pt>
                <c:pt idx="3">
                  <c:v>0.11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94-4925-8EE6-7A00A18321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NDCG@10</c:v>
                </c:pt>
              </c:strCache>
            </c:strRef>
          </c:tx>
          <c:spPr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W=7</c:v>
                </c:pt>
                <c:pt idx="1">
                  <c:v>W=14</c:v>
                </c:pt>
                <c:pt idx="2">
                  <c:v>W=30</c:v>
                </c:pt>
                <c:pt idx="3">
                  <c:v>W=60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6.8000000000000005E-2</c:v>
                </c:pt>
                <c:pt idx="1">
                  <c:v>6.6000000000000003E-2</c:v>
                </c:pt>
                <c:pt idx="2">
                  <c:v>6.3799999999999996E-2</c:v>
                </c:pt>
                <c:pt idx="3">
                  <c:v>5.8999999999999997E-2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94-4925-8EE6-7A00A183212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Coverage</c:v>
                </c:pt>
              </c:strCache>
            </c:strRef>
          </c:tx>
          <c:spPr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W=7</c:v>
                </c:pt>
                <c:pt idx="1">
                  <c:v>W=14</c:v>
                </c:pt>
                <c:pt idx="2">
                  <c:v>W=30</c:v>
                </c:pt>
                <c:pt idx="3">
                  <c:v>W=60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0.43099999999999999</c:v>
                </c:pt>
                <c:pt idx="1">
                  <c:v>0.47</c:v>
                </c:pt>
                <c:pt idx="2">
                  <c:v>0.4713</c:v>
                </c:pt>
                <c:pt idx="3">
                  <c:v>0.42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394-4925-8EE6-7A00A18321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504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Debiasing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Sequential Recommendation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Popularity &amp; Temporal Trending Bias with User Identity Scores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22860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 Raj Sharma  ·  M Vinay  ·  Shikhar Mutta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AI/DS &amp; CSE  |  IIIT Bangalore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Why Personalized Debiasing?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Popularity Bias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over-recommend globally popular items because they dominate training data. Niche users suffer the most, almost all their recs are popular items they don't want.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1732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Trending Bias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1031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trending items get pushed to ALL users, even those with stable long-term interests. Not every user is a trend-follower.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17320"/>
            <a:ext cx="2560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Uniform Debiasing Fails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1031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IPS methods apply the same correction to every user. A Niche explorer and a Blockbuster fan receive identical debiasing that is clearly suboptimal.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CCFBF1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27217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60120" y="4343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Different users need different debiasing strengths — debiasing must be personalized.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Debiasing for Sequential Recommendation  |  IIIT Bangalore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Dual-Bias Debiasing Framework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1A2744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640080" y="1280160"/>
                <a:ext cx="7826587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𝐿</m:t>
                      </m:r>
                      <m:r>
                        <a:rPr lang="en-US" sz="1600" i="1" dirty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= </m:t>
                      </m:r>
                      <m:f>
                        <m:fPr>
                          <m:ctrlPr>
                            <a:rPr lang="en-US" sz="1600" i="1" dirty="0" smtClean="0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dirty="0" smtClean="0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pop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60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b="0" i="1" dirty="0" smtClean="0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dirty="0" smtClean="0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 </m:t>
                          </m:r>
                          <m:sSub>
                            <m:sSubPr>
                              <m:ctrlP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trend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600" i="1" dirty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1600" i="1" dirty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sz="1600" i="1" dirty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sz="1600" i="1" dirty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1-</m:t>
                              </m:r>
                              <m: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US" sz="1600" b="0" i="1" dirty="0" smtClean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sz="1600" i="1" dirty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×  (−</m:t>
                      </m:r>
                      <m:r>
                        <m:rPr>
                          <m:sty m:val="p"/>
                        </m:rPr>
                        <a:rPr lang="en-US" sz="1600" i="1" dirty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log</m:t>
                      </m:r>
                      <m:r>
                        <a:rPr lang="en-US" sz="1600" i="1" dirty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⁡</m:t>
                      </m:r>
                      <m:r>
                        <a:rPr lang="en-US" sz="1600" i="1" dirty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𝑃</m:t>
                      </m:r>
                      <m:r>
                        <a:rPr lang="en-US" sz="1600" i="1" dirty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(</m:t>
                      </m:r>
                      <m:r>
                        <a:rPr lang="en-US" sz="1600" i="1" dirty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𝑖</m:t>
                      </m:r>
                      <m:r>
                        <a:rPr lang="en-US" sz="1600" b="0" i="1" dirty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600" b="0" i="1" dirty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t</m:t>
                      </m:r>
                      <m:r>
                        <a:rPr lang="en-US" sz="1600" i="1" dirty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)</m:t>
                      </m:r>
                      <m:r>
                        <a:rPr lang="en-US" sz="1600" b="0" i="1" dirty="0" smtClean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280160"/>
                <a:ext cx="7826587" cy="731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457200" y="2240280"/>
            <a:ext cx="3840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40280"/>
            <a:ext cx="64008" cy="1920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Explorer Score  α(u)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Shannon entropy over genre distribution.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≈ 1.0 → diverse explorer → strong popularity correction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≈ 0.0 → loyal user → minimal correction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2240280"/>
            <a:ext cx="3840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2240280"/>
            <a:ext cx="64008" cy="1920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Trend-Follower Score  β(u)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26974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trending exposure across user's history.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≈ 0.8 → trend-follower → less trending correction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≈ 0.1 → stable-interest → strong trending correction</a:t>
            </a:r>
            <a:endParaRPr lang="en-US" sz="10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43400"/>
            <a:ext cx="182880" cy="182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13232" y="43251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(GRU4Rec / SASRec)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4343400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93592" y="43251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Training-time only — zero inference overhead</a:t>
            </a:r>
            <a:endParaRPr lang="en-US" sz="9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343400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73952" y="43251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Formula-based  &amp;  MLP-learned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Debiasing for Sequential Recommendation  |  IIIT Bangalore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Setup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MovieLens-1M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 ratings  |  6K users  |  4K movies  |  18 genres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feedback: ratings ≥ 4.0 as positive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5 interactions per user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temporal holdout split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25880"/>
            <a:ext cx="3840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GRU4Rec Configuration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Embed: 128  |  Hidden: 256  |  Layers: 1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0.001  |  Weight Decay: 1e-4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512  |  Epochs: 50  |  Patience: 10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window W = 30 days  |  Max weight: 5.0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Compared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8229600" cy="147523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Popularity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Recommends most globally popular items. Non-personalized.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GRU4Rec 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Standard GRU4Rec with cross-entropy loss. No debiasing.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GRU4Rec + 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Uniform IPS reweighting — same correction for all users.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Ours (Formula)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Personalized debiasing with formula-based α(u) and β(u).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Ours (Learned)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Personalized debiasing with MLP-learned α(u) and β(u).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Debiasing for Sequential Recommendation  |  IIIT Bangalore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 Quality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ground-truth item in the top-10 list? Binary (0 or 1), averaged over all test users.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placing the correct item higher. Rank #2 → 0.63, Rank #9 → 0.29.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80160"/>
            <a:ext cx="3840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Fairness &amp; Diversity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7373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ΔGAP: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avg popularity − profile avg popularity. Closer to 0 = fairer.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items recommended. Higher = more catalog explored.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Ratio: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from bottom 80% by popularity. Higher = niche exposure.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Intuitive Example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58444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Alice's next movie is "Interstellar". The model produces a top-10 list.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"Interstellar" appears anywhere in top-10 → 1, else → 0.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appears at rank #2 → score ≈ 0.63.  At rank #9 → score ≈ 0.29.  Not in top-10 → 0.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ΔGAP: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Alice's profile has avg popularity 0.003 and her recs average 0.005, ΔGAP = +0.002 (system pushes more popular items than she prefers).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Debiasing for Sequential Recommendation  |  IIIT Bangalore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Comparison Results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7955280" cy="152704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Recall@10 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 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ΔGAP Niche 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Pop 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Long-Tail 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Popularity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GRU4Rec 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GRU4Rec + IPS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Ours (Formula)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Ours (Learned)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Shape 4"/>
          <p:cNvSpPr/>
          <p:nvPr/>
        </p:nvSpPr>
        <p:spPr>
          <a:xfrm>
            <a:off x="457200" y="356616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356616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Formula-based wins on diversity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39502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coverage (0.4713) and long-tail ratio (0.0928) — best exposure fairness.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356616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356616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3520440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 wins on ranking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520440" y="39502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Recall@10 (0.1273) and NDCG@10 (0.0649) — ~3–4% gain over formula.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26480" y="356616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356616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6355080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beat uniform IPS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55080" y="39502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Recall, Coverage, and Long-Tail than standard IPS — personalization matters.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Debiasing for Sequential Recommendation  |  IIIT Bangalore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ΔGAP Across User Groups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977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(Lower = fairer  ·  Popularity baseline ≈ 0.0029, excluded for scale)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0" y="1280160"/>
            <a:ext cx="329184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0" y="1280160"/>
            <a:ext cx="54864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0" y="1353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Differences are very small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0" y="1600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sequential methods sit at the 4th decimal. Practical differences are minimal.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0" y="2240280"/>
            <a:ext cx="329184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2240280"/>
            <a:ext cx="54864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23134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Ours improves over uniform IPS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6928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personalized variants achieve lower ΔGAP than IPS across all 3 user groups, supporting the personalization story.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0" y="3200400"/>
            <a:ext cx="329184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0" y="3200400"/>
            <a:ext cx="54864" cy="8412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0" y="32735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CE is marginally best here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0" y="3520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achieves slightly lower ΔGAP — but at the cost of Coverage and Long-Tail. Fairness has multiple dimensions.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CCFBF1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43145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60120" y="4343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ΔGAP differences are minimal; our gains show up in Coverage and Long-Tail.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Debiasing for Sequential Recommendation  |  IIIT Bangalore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 vs. Learned: The Trade-off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371600"/>
            <a:ext cx="3108960" cy="12344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 MLP Wins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2160" y="1737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Recall@10 (+3.4%)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NDCG@10 (+1.7%)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ΔGAP Niche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0" y="2788920"/>
            <a:ext cx="3108960" cy="12344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2880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Formula-Based Wins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154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Coverage (+1.3%)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Long-Tail Ratio (+1.1%)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 exposure control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CCFBF1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43145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4343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Learned optimizes ranking; Formula provides more stable fairness and diversity control.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Debiasing for Sequential Recommendation  |  IIIT Bangalore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Ablation: α-only vs. β-only vs. α+β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258375725"/>
              </p:ext>
            </p:extLst>
          </p:nvPr>
        </p:nvGraphicFramePr>
        <p:xfrm>
          <a:off x="274320" y="123444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371600"/>
            <a:ext cx="32004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37160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0" y="14447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 dominates ranking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1673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bias is the more dominant in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Strong global popularity skew makes α the most impactful component.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2295144"/>
            <a:ext cx="320040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398605"/>
            <a:ext cx="54864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9"/>
          <p:cNvSpPr/>
          <p:nvPr/>
        </p:nvSpPr>
        <p:spPr>
          <a:xfrm>
            <a:off x="5760720" y="23591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 contributes to fairness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60720" y="2651760"/>
            <a:ext cx="2834640" cy="646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/>
              <a:t>β correction primarily addresses temporal trending bias. Any improvement in popularity-based diversity metrics is an indirect side effect, not the primary purpose.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improvement  in diversity metrics by α+</a:t>
            </a:r>
            <a:r>
              <a:rPr lang="en-US" sz="900" dirty="0"/>
              <a:t> β shows that β helped in fairness and diversity.</a:t>
            </a:r>
          </a:p>
        </p:txBody>
      </p:sp>
      <p:sp>
        <p:nvSpPr>
          <p:cNvPr id="14" name="Shape 11"/>
          <p:cNvSpPr/>
          <p:nvPr/>
        </p:nvSpPr>
        <p:spPr>
          <a:xfrm>
            <a:off x="5577840" y="3474720"/>
            <a:ext cx="3200400" cy="10287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3561081"/>
            <a:ext cx="54864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5760720" y="34564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α+β = best balance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60720" y="368503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model achieves highest coverage and long-tail ratio, showing both biases complement each other effectively. T</a:t>
            </a:r>
            <a:r>
              <a:rPr lang="en-US" sz="900" dirty="0"/>
              <a:t>he small accuracy drop from β is compensated by meaningfully higher coverage and long-tail ratio</a:t>
            </a:r>
          </a:p>
        </p:txBody>
      </p:sp>
      <p:sp>
        <p:nvSpPr>
          <p:cNvPr id="18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Debiasing for Sequential Recommendation  |  IIIT Bangalore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 Size Sensitivity Analysis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48463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371600"/>
            <a:ext cx="3291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23560" y="1426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= 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23560" y="16459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NDCG@10 (short-term precision). But lowest coverage — overemphasizes trending spikes.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0" y="2148840"/>
            <a:ext cx="3291840" cy="658368"/>
          </a:xfrm>
          <a:prstGeom prst="rect">
            <a:avLst/>
          </a:prstGeom>
          <a:solidFill>
            <a:srgbClr val="CCFBF1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23560" y="2203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= 14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23560" y="2423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trade-off: strong Recall@10, good coverage, good long-tail. Captures meaningful trends without noise.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486400" y="2926080"/>
            <a:ext cx="3291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23560" y="29809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= 30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23560" y="32004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setting. Best coverage and long-tail ratio. Slightly lower ranking precision.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486400" y="3703320"/>
            <a:ext cx="3291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23560" y="3758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= 60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23560" y="3977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overall. Dilutes temporal dynamics, behaves like static popularity estimation.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CCFBF1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422984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60120" y="4343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e_trend decreases consistently with larger windows. Shorter windows = more reactive but noisier trend estimates.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Debiasing for Sequential Recommendation  |  IIIT Bangalore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441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approximation: interaction frequency as proxy for true exposure (standard IPS limitation)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164592" cy="164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847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 (MovieLens-1M): limited temporal dynamics compared to industrial settings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77440"/>
            <a:ext cx="164592" cy="164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350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metadata dependency for α(u) — not available in all domains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80360"/>
            <a:ext cx="164592" cy="1645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2852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evaluation only — online A/B testing needed for full validation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71600"/>
            <a:ext cx="164592" cy="16459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20640" y="13441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debiasing consistently outperforms uniform IPS on diversity and fairness metrics</a:t>
            </a:r>
            <a:endParaRPr lang="en-US" sz="9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74520"/>
            <a:ext cx="164592" cy="16459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20640" y="1847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Formula-based variant excels at coverage and exposure fairness</a:t>
            </a:r>
            <a:endParaRPr lang="en-US" sz="9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77440"/>
            <a:ext cx="164592" cy="16459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20640" y="2350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MLP variant achieves best ranking quality (Recall@10, NDCG@10)</a:t>
            </a:r>
            <a:endParaRPr lang="en-US" sz="9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80360"/>
            <a:ext cx="164592" cy="164592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120640" y="2852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biases (popularity + trending) complement each other for best overall balance</a:t>
            </a:r>
            <a:endParaRPr lang="en-US" sz="950" dirty="0"/>
          </a:p>
        </p:txBody>
      </p:sp>
      <p:sp>
        <p:nvSpPr>
          <p:cNvPr id="22" name="Shape 12"/>
          <p:cNvSpPr/>
          <p:nvPr/>
        </p:nvSpPr>
        <p:spPr>
          <a:xfrm>
            <a:off x="640080" y="3520440"/>
            <a:ext cx="7863840" cy="9144"/>
          </a:xfrm>
          <a:prstGeom prst="rect">
            <a:avLst/>
          </a:prstGeom>
          <a:solidFill>
            <a:srgbClr val="243B5E"/>
          </a:solidFill>
          <a:ln/>
        </p:spPr>
      </p:sp>
      <p:sp>
        <p:nvSpPr>
          <p:cNvPr id="23" name="Text 13"/>
          <p:cNvSpPr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4" name="Text 14"/>
          <p:cNvSpPr/>
          <p:nvPr/>
        </p:nvSpPr>
        <p:spPr>
          <a:xfrm>
            <a:off x="640080" y="4251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 Raj Sharma  ·  M Vinay  ·  Shikhar Mutta  |  IIIT Bangalore</a:t>
            </a:r>
            <a:endParaRPr lang="en-US" sz="1100" dirty="0"/>
          </a:p>
        </p:txBody>
      </p:sp>
      <p:sp>
        <p:nvSpPr>
          <p:cNvPr id="25" name="Text 15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Ritu.Sharma@iiitb.ac.in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1346</Words>
  <Application>Microsoft Office PowerPoint</Application>
  <PresentationFormat>On-screen Show (16:9)</PresentationFormat>
  <Paragraphs>206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Personalized Debiasing for Sequential Recommendation</dc:title>
  <dc:subject>PptxGenJS Presentation</dc:subject>
  <dc:creator>Ritu Raj Sharma, M Vinay, Shikhar Mutta</dc:creator>
  <cp:lastModifiedBy>Ritu Raj Sharma</cp:lastModifiedBy>
  <cp:revision>21</cp:revision>
  <dcterms:created xsi:type="dcterms:W3CDTF">2026-05-13T11:17:53Z</dcterms:created>
  <dcterms:modified xsi:type="dcterms:W3CDTF">2026-05-14T05:36:03Z</dcterms:modified>
</cp:coreProperties>
</file>